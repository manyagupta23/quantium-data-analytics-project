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E9EA6C-2121-6CB9-AF48-C79436AEECCD}" v="275" dt="2026-07-23T12:39:15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2700">
                <a:solidFill>
                  <a:srgbClr val="000005"/>
                </a:solidFill>
                <a:latin typeface="Roboto Medium"/>
                <a:ea typeface="Roboto Medium"/>
                <a:cs typeface="Roboto Medium"/>
              </a:rPr>
              <a:t>Category review: Chips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sz="1800">
                <a:solidFill>
                  <a:srgbClr val="000005"/>
                </a:solidFill>
                <a:latin typeface="Roboto Light"/>
                <a:ea typeface="Roboto Light"/>
                <a:cs typeface="Roboto Light"/>
              </a:rPr>
              <a:t>Retail Analytics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C1C403-AA15-F106-2B4A-082E3966174D}"/>
              </a:ext>
            </a:extLst>
          </p:cNvPr>
          <p:cNvSpPr txBox="1"/>
          <p:nvPr/>
        </p:nvSpPr>
        <p:spPr>
          <a:xfrm>
            <a:off x="274320" y="167640"/>
            <a:ext cx="4953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2400">
                <a:solidFill>
                  <a:srgbClr val="000005"/>
                </a:solidFill>
                <a:latin typeface="Roboto"/>
                <a:ea typeface="Roboto"/>
                <a:cs typeface="Roboto"/>
              </a:rPr>
              <a:t>Executive summary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00F7C-87FC-BFF9-4808-1A1361AF8D16}"/>
              </a:ext>
            </a:extLst>
          </p:cNvPr>
          <p:cNvSpPr txBox="1"/>
          <p:nvPr/>
        </p:nvSpPr>
        <p:spPr>
          <a:xfrm>
            <a:off x="487680" y="1295400"/>
            <a:ext cx="262128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1400">
                <a:solidFill>
                  <a:srgbClr val="000005"/>
                </a:solidFill>
                <a:latin typeface="Roboto"/>
                <a:ea typeface="Roboto"/>
                <a:cs typeface="Roboto"/>
              </a:rPr>
              <a:t>Task 1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CCD85-B752-0D57-80FA-71AA06B63176}"/>
              </a:ext>
            </a:extLst>
          </p:cNvPr>
          <p:cNvSpPr txBox="1"/>
          <p:nvPr/>
        </p:nvSpPr>
        <p:spPr>
          <a:xfrm>
            <a:off x="485503" y="2378891"/>
            <a:ext cx="24993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1400">
                <a:solidFill>
                  <a:srgbClr val="000005"/>
                </a:solidFill>
                <a:latin typeface="Roboto"/>
                <a:ea typeface="Roboto"/>
                <a:cs typeface="Roboto"/>
              </a:rPr>
              <a:t>Task 2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58250-4A2F-82C9-19D5-B58301987851}"/>
              </a:ext>
            </a:extLst>
          </p:cNvPr>
          <p:cNvSpPr txBox="1"/>
          <p:nvPr/>
        </p:nvSpPr>
        <p:spPr>
          <a:xfrm>
            <a:off x="3794759" y="1236617"/>
            <a:ext cx="68884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Customer Purchasing </a:t>
            </a:r>
            <a:r>
              <a:rPr lang="en-US">
                <a:ea typeface="+mn-lt"/>
                <a:cs typeface="+mn-lt"/>
              </a:rPr>
              <a:t>Behavior</a:t>
            </a:r>
            <a:r>
              <a:rPr lang="en-US" dirty="0">
                <a:ea typeface="+mn-lt"/>
                <a:cs typeface="+mn-lt"/>
              </a:rPr>
              <a:t> Analysis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32578A-7AB0-A9BE-6499-1998FF9CBB29}"/>
              </a:ext>
            </a:extLst>
          </p:cNvPr>
          <p:cNvSpPr txBox="1"/>
          <p:nvPr/>
        </p:nvSpPr>
        <p:spPr>
          <a:xfrm>
            <a:off x="3794759" y="2375989"/>
            <a:ext cx="52273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Store Trial Evaluation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7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2580C-6C61-B53E-77B9-84EFA77850E7}"/>
              </a:ext>
            </a:extLst>
          </p:cNvPr>
          <p:cNvSpPr txBox="1"/>
          <p:nvPr/>
        </p:nvSpPr>
        <p:spPr>
          <a:xfrm>
            <a:off x="213360" y="320040"/>
            <a:ext cx="3185159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600"/>
              <a:t>01</a:t>
            </a:r>
            <a:endParaRPr lang="en-US" sz="6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87FA6C-A09D-3D64-F54A-A6A8CB38ACF3}"/>
              </a:ext>
            </a:extLst>
          </p:cNvPr>
          <p:cNvSpPr txBox="1"/>
          <p:nvPr/>
        </p:nvSpPr>
        <p:spPr>
          <a:xfrm>
            <a:off x="335280" y="2971800"/>
            <a:ext cx="28651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AU" sz="3600">
                <a:solidFill>
                  <a:srgbClr val="000005"/>
                </a:solidFill>
                <a:latin typeface="Roboto Medium"/>
                <a:ea typeface="Roboto Medium"/>
                <a:cs typeface="Roboto Medium"/>
              </a:rPr>
              <a:t>Category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7656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2202A1-61C3-442D-6F93-EFB8A131D6E3}"/>
              </a:ext>
            </a:extLst>
          </p:cNvPr>
          <p:cNvSpPr txBox="1"/>
          <p:nvPr/>
        </p:nvSpPr>
        <p:spPr>
          <a:xfrm>
            <a:off x="335280" y="609600"/>
            <a:ext cx="11230428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Highest-Value Customer Segment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Mainstream Young Singles/Couples contributed the largest share of sales and should remain a priority for marketing campaigns.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  </a:t>
            </a:r>
            <a:r>
              <a:rPr lang="en-US" sz="2400" b="1">
                <a:ea typeface="+mn-lt"/>
                <a:cs typeface="+mn-lt"/>
              </a:rPr>
              <a:t>Most Popular Pack Size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170–175g packs accounted for a significant proportion of purchases, suggesting customers prefer medium-sized packs.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>
                <a:ea typeface="+mn-lt"/>
                <a:cs typeface="+mn-lt"/>
              </a:rPr>
              <a:t>Top Performing Brands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Kettle, Smiths, and Pringles dominated sales and should be prioritized for promotions, shelf placement, and inventory planning.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>
                <a:ea typeface="+mn-lt"/>
                <a:cs typeface="+mn-lt"/>
              </a:rPr>
              <a:t>Business Opportunity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Targeted promotions focusing on high-value customer segments and popular brands can help increase sales and improve category performance.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15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8B53E8-E9D0-7E7F-2585-17F3D9DEBB3C}"/>
              </a:ext>
            </a:extLst>
          </p:cNvPr>
          <p:cNvSpPr txBox="1"/>
          <p:nvPr/>
        </p:nvSpPr>
        <p:spPr>
          <a:xfrm>
            <a:off x="987696" y="443410"/>
            <a:ext cx="10091057" cy="68018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Affluence and Its Effect on Chip Purchasing </a:t>
            </a:r>
            <a:r>
              <a:rPr lang="en-US" sz="2000" dirty="0" err="1"/>
              <a:t>Behaviour</a:t>
            </a:r>
            <a:endParaRPr lang="en-US" sz="2000" dirty="0"/>
          </a:p>
          <a:p>
            <a:r>
              <a:rPr lang="en-US" sz="2000"/>
              <a:t>Key Findings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Mainstream customers</a:t>
            </a:r>
            <a:r>
              <a:rPr lang="en-US" sz="2000">
                <a:ea typeface="+mn-lt"/>
                <a:cs typeface="+mn-lt"/>
              </a:rPr>
              <a:t> accounted for the largest share of chip purchases, making them the primary revenue-driving segment.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Budget customers</a:t>
            </a:r>
            <a:r>
              <a:rPr lang="en-US" sz="2000">
                <a:ea typeface="+mn-lt"/>
                <a:cs typeface="+mn-lt"/>
              </a:rPr>
              <a:t> contributed consistently to category sales, indicating that affordability remains an important purchasing factor.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Premium customers</a:t>
            </a:r>
            <a:r>
              <a:rPr lang="en-US" sz="2000">
                <a:ea typeface="+mn-lt"/>
                <a:cs typeface="+mn-lt"/>
              </a:rPr>
              <a:t> represented a smaller share of total purchases but generally preferred higher-value brands and premium chip products.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Purchasing </a:t>
            </a:r>
            <a:r>
              <a:rPr lang="en-US" sz="2000" dirty="0" err="1">
                <a:ea typeface="+mn-lt"/>
                <a:cs typeface="+mn-lt"/>
              </a:rPr>
              <a:t>behaviour</a:t>
            </a:r>
            <a:r>
              <a:rPr lang="en-US" sz="2000" dirty="0">
                <a:ea typeface="+mn-lt"/>
                <a:cs typeface="+mn-lt"/>
              </a:rPr>
              <a:t> varied across life stages, with </a:t>
            </a:r>
            <a:r>
              <a:rPr lang="en-US" sz="2000" b="1" dirty="0">
                <a:ea typeface="+mn-lt"/>
                <a:cs typeface="+mn-lt"/>
              </a:rPr>
              <a:t>Young Singles/Couples</a:t>
            </a:r>
            <a:r>
              <a:rPr lang="en-US" sz="2000" dirty="0">
                <a:ea typeface="+mn-lt"/>
                <a:cs typeface="+mn-lt"/>
              </a:rPr>
              <a:t> and </a:t>
            </a:r>
            <a:r>
              <a:rPr lang="en-US" sz="2000" b="1" dirty="0">
                <a:ea typeface="+mn-lt"/>
                <a:cs typeface="+mn-lt"/>
              </a:rPr>
              <a:t>Mid-age Singles/Couples</a:t>
            </a:r>
            <a:r>
              <a:rPr lang="en-US" sz="2000" dirty="0">
                <a:ea typeface="+mn-lt"/>
                <a:cs typeface="+mn-lt"/>
              </a:rPr>
              <a:t> contributing the highest sales across all affluence segments.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u="sng"/>
              <a:t>Key Callouts</a:t>
            </a:r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>
                <a:ea typeface="+mn-lt"/>
                <a:cs typeface="+mn-lt"/>
              </a:rPr>
              <a:t>Mainstream shoppers are the largest contributor</a:t>
            </a:r>
            <a:r>
              <a:rPr lang="en-US" sz="2000">
                <a:ea typeface="+mn-lt"/>
                <a:cs typeface="+mn-lt"/>
              </a:rPr>
              <a:t> to overall chip sales and should remain the primary target for promotional campaigns.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>
                <a:ea typeface="+mn-lt"/>
                <a:cs typeface="+mn-lt"/>
              </a:rPr>
              <a:t>Premium shoppers</a:t>
            </a:r>
            <a:r>
              <a:rPr lang="en-US" sz="2000">
                <a:ea typeface="+mn-lt"/>
                <a:cs typeface="+mn-lt"/>
              </a:rPr>
              <a:t> are more likely to purchase premium brands, creating opportunities for premium product promotions and value-added offers.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>
                <a:ea typeface="+mn-lt"/>
                <a:cs typeface="+mn-lt"/>
              </a:rPr>
              <a:t>Budget shoppers</a:t>
            </a:r>
            <a:r>
              <a:rPr lang="en-US" sz="2000">
                <a:ea typeface="+mn-lt"/>
                <a:cs typeface="+mn-lt"/>
              </a:rPr>
              <a:t> respond well to competitive pricing and promotional discounts, making price-based campaigns effective for this segment.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 Marketing strategies should be tailored according to </a:t>
            </a:r>
            <a:r>
              <a:rPr lang="en-US" sz="2000" b="1">
                <a:ea typeface="+mn-lt"/>
                <a:cs typeface="+mn-lt"/>
              </a:rPr>
              <a:t>both customer affluence and life stage</a:t>
            </a:r>
            <a:r>
              <a:rPr lang="en-US" sz="2000">
                <a:ea typeface="+mn-lt"/>
                <a:cs typeface="+mn-lt"/>
              </a:rPr>
              <a:t> to maximize category growth.</a:t>
            </a:r>
            <a:endParaRPr lang="en-US" sz="2000" dirty="0"/>
          </a:p>
          <a:p>
            <a:pPr marL="285750" indent="-285750" algn="l">
              <a:buFont typeface="Arial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40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43F83C-13A1-680A-AEDC-71D3AF270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441" y="643467"/>
            <a:ext cx="7503117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29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D6E5CC-3F68-15F5-226D-A67454C9AA81}"/>
              </a:ext>
            </a:extLst>
          </p:cNvPr>
          <p:cNvSpPr txBox="1"/>
          <p:nvPr/>
        </p:nvSpPr>
        <p:spPr>
          <a:xfrm>
            <a:off x="701040" y="518160"/>
            <a:ext cx="265176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/>
              <a:t>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40BB7-3583-8EAC-F042-2CB9AF8A3643}"/>
              </a:ext>
            </a:extLst>
          </p:cNvPr>
          <p:cNvSpPr txBox="1"/>
          <p:nvPr/>
        </p:nvSpPr>
        <p:spPr>
          <a:xfrm>
            <a:off x="457926" y="2907936"/>
            <a:ext cx="54711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2800">
                <a:solidFill>
                  <a:srgbClr val="000005"/>
                </a:solidFill>
                <a:latin typeface="Roboto Medium"/>
                <a:ea typeface="Roboto Medium"/>
                <a:cs typeface="Roboto Medium"/>
              </a:rPr>
              <a:t>Trial store performance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293179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52E86-C4AC-AD4A-FE77-3DAE5971B1BB}"/>
              </a:ext>
            </a:extLst>
          </p:cNvPr>
          <p:cNvSpPr txBox="1"/>
          <p:nvPr/>
        </p:nvSpPr>
        <p:spPr>
          <a:xfrm>
            <a:off x="457200" y="685799"/>
            <a:ext cx="11122297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Explanation of the Control Store vs Other Stores</a:t>
            </a:r>
          </a:p>
          <a:p>
            <a:r>
              <a:rPr lang="en-US" sz="2400" i="1" u="sng"/>
              <a:t>Why were control stores used?</a:t>
            </a:r>
          </a:p>
          <a:p>
            <a:r>
              <a:rPr lang="en-US" sz="2400">
                <a:ea typeface="+mn-lt"/>
                <a:cs typeface="+mn-lt"/>
              </a:rPr>
              <a:t>To accurately measure the impact of the store trial, each trial store was compared with a </a:t>
            </a:r>
            <a:r>
              <a:rPr lang="en-US" sz="2400" b="1">
                <a:ea typeface="+mn-lt"/>
                <a:cs typeface="+mn-lt"/>
              </a:rPr>
              <a:t>control store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that had similar sales performance before the trial. This comparison helped isolate the effect of the trial from normal seasonal or market fluctuations.</a:t>
            </a:r>
            <a:endParaRPr lang="en-US" sz="2400"/>
          </a:p>
          <a:p>
            <a:r>
              <a:rPr lang="en-US" sz="2400" i="1" u="sng"/>
              <a:t>How were control stores selected?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Monthly sales performance during the </a:t>
            </a:r>
            <a:r>
              <a:rPr lang="en-US" sz="2400" b="1">
                <a:ea typeface="+mn-lt"/>
                <a:cs typeface="+mn-lt"/>
              </a:rPr>
              <a:t>pre-trial period</a:t>
            </a:r>
            <a:r>
              <a:rPr lang="en-US" sz="2400">
                <a:ea typeface="+mn-lt"/>
                <a:cs typeface="+mn-lt"/>
              </a:rPr>
              <a:t> was analyzed.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Pearson correlation</a:t>
            </a:r>
            <a:r>
              <a:rPr lang="en-US" sz="2400">
                <a:ea typeface="+mn-lt"/>
                <a:cs typeface="+mn-lt"/>
              </a:rPr>
              <a:t> was used to identify stores with similar historical sales patterns.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The store with the highest similarity score was selected as the control store for each trial store.</a:t>
            </a:r>
            <a:endParaRPr lang="en-US" sz="2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754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8765DB-333B-A243-ACE8-54E66282C5A5}"/>
              </a:ext>
            </a:extLst>
          </p:cNvPr>
          <p:cNvSpPr txBox="1"/>
          <p:nvPr/>
        </p:nvSpPr>
        <p:spPr>
          <a:xfrm>
            <a:off x="1005839" y="1051560"/>
            <a:ext cx="10379164" cy="55707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Callout: Performance of the Trial Stores</a:t>
            </a:r>
          </a:p>
          <a:p>
            <a:r>
              <a:rPr lang="en-US" sz="2400"/>
              <a:t>Trial Performance Summary</a:t>
            </a:r>
          </a:p>
          <a:p>
            <a:r>
              <a:rPr lang="en-US" sz="2200" b="1"/>
              <a:t>Store 77 – Successful Trial </a:t>
            </a:r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Store 77 outperformed its matched control store during the trial period. </a:t>
            </a:r>
            <a:endParaRPr lang="en-US" sz="2200" dirty="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The increase in total sales indicates that the trial had a positive impact on store performance. </a:t>
            </a:r>
            <a:endParaRPr lang="en-US" sz="2200" dirty="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This store provides the strongest evidence that the trial strategy was effective. </a:t>
            </a:r>
            <a:endParaRPr lang="en-US" sz="2200" dirty="0"/>
          </a:p>
          <a:p>
            <a:r>
              <a:rPr lang="en-US" sz="2200" b="1"/>
              <a:t>Store 86 – Limited Impact </a:t>
            </a:r>
          </a:p>
          <a:p>
            <a:pPr marL="285750" indent="-285750">
              <a:buFont typeface="Arial"/>
              <a:buChar char="•"/>
            </a:pPr>
            <a:r>
              <a:rPr lang="en-US" sz="2200" dirty="0">
                <a:ea typeface="+mn-lt"/>
                <a:cs typeface="+mn-lt"/>
              </a:rPr>
              <a:t>Store 86 showed performance </a:t>
            </a:r>
            <a:r>
              <a:rPr lang="en-US" sz="2200">
                <a:ea typeface="+mn-lt"/>
                <a:cs typeface="+mn-lt"/>
              </a:rPr>
              <a:t>like</a:t>
            </a:r>
            <a:r>
              <a:rPr lang="en-US" sz="2200" dirty="0">
                <a:ea typeface="+mn-lt"/>
                <a:cs typeface="+mn-lt"/>
              </a:rPr>
              <a:t> its control store throughout the trial. </a:t>
            </a:r>
            <a:endParaRPr lang="en-US" sz="2200" dirty="0"/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No clear improvement was observed, suggesting that the trial had a limited effect. </a:t>
            </a:r>
            <a:endParaRPr lang="en-US" sz="2200" dirty="0"/>
          </a:p>
          <a:p>
            <a:r>
              <a:rPr lang="en-US" sz="2200" b="1"/>
              <a:t>Store 88 – Further Validation Required</a:t>
            </a:r>
            <a:r>
              <a:rPr lang="en-US" sz="2200" dirty="0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Although Store 88 showed changes during the trial period, the selected control store differed substantially in sales magnitude.</a:t>
            </a:r>
            <a:endParaRPr lang="en-US" sz="2200"/>
          </a:p>
          <a:p>
            <a:pPr marL="285750" indent="-285750">
              <a:buFont typeface="Arial"/>
              <a:buChar char="•"/>
            </a:pPr>
            <a:r>
              <a:rPr lang="en-US" sz="2200"/>
              <a:t>A</a:t>
            </a:r>
            <a:r>
              <a:rPr lang="en-US" sz="2200">
                <a:ea typeface="+mn-lt"/>
                <a:cs typeface="+mn-lt"/>
              </a:rPr>
              <a:t>s a result, the effectiveness of the trial cannot be confirmed without selecting a more appropriate control store.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68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34E7CE-327C-8F13-9FA2-D19859667992}"/>
              </a:ext>
            </a:extLst>
          </p:cNvPr>
          <p:cNvSpPr txBox="1"/>
          <p:nvPr/>
        </p:nvSpPr>
        <p:spPr>
          <a:xfrm>
            <a:off x="1005840" y="624840"/>
            <a:ext cx="9907451" cy="58169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/>
              <a:t>Key Takeaways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>
                <a:ea typeface="+mn-lt"/>
                <a:cs typeface="+mn-lt"/>
              </a:rPr>
              <a:t>Successful Trial:</a:t>
            </a:r>
            <a:r>
              <a:rPr lang="en-US" sz="2400">
                <a:ea typeface="+mn-lt"/>
                <a:cs typeface="+mn-lt"/>
              </a:rPr>
              <a:t> Store </a:t>
            </a:r>
            <a:r>
              <a:rPr lang="en-US" sz="2400" b="1">
                <a:ea typeface="+mn-lt"/>
                <a:cs typeface="+mn-lt"/>
              </a:rPr>
              <a:t>77</a:t>
            </a:r>
            <a:r>
              <a:rPr lang="en-US" sz="2400">
                <a:ea typeface="+mn-lt"/>
                <a:cs typeface="+mn-lt"/>
              </a:rPr>
              <a:t> demonstrated the strongest positive response to the trial.</a:t>
            </a: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>
                <a:ea typeface="+mn-lt"/>
                <a:cs typeface="+mn-lt"/>
              </a:rPr>
              <a:t>Limited Evidence:</a:t>
            </a:r>
            <a:r>
              <a:rPr lang="en-US" sz="2400">
                <a:ea typeface="+mn-lt"/>
                <a:cs typeface="+mn-lt"/>
              </a:rPr>
              <a:t> Store </a:t>
            </a:r>
            <a:r>
              <a:rPr lang="en-US" sz="2400" b="1">
                <a:ea typeface="+mn-lt"/>
                <a:cs typeface="+mn-lt"/>
              </a:rPr>
              <a:t>86</a:t>
            </a:r>
            <a:r>
              <a:rPr lang="en-US" sz="2400">
                <a:ea typeface="+mn-lt"/>
                <a:cs typeface="+mn-lt"/>
              </a:rPr>
              <a:t> showed minimal change relative to its control store.</a:t>
            </a: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>
                <a:ea typeface="+mn-lt"/>
                <a:cs typeface="+mn-lt"/>
              </a:rPr>
              <a:t>Additional Analysis Required:</a:t>
            </a:r>
            <a:r>
              <a:rPr lang="en-US" sz="2400">
                <a:ea typeface="+mn-lt"/>
                <a:cs typeface="+mn-lt"/>
              </a:rPr>
              <a:t> Store </a:t>
            </a:r>
            <a:r>
              <a:rPr lang="en-US" sz="2400" b="1">
                <a:ea typeface="+mn-lt"/>
                <a:cs typeface="+mn-lt"/>
              </a:rPr>
              <a:t>88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should be reassessed using a better-matched control store before making strategic decisions.</a:t>
            </a:r>
            <a:endParaRPr lang="en-US" sz="2400"/>
          </a:p>
          <a:p>
            <a:pPr marL="285750" indent="-285750">
              <a:buFont typeface="Arial"/>
              <a:buChar char="•"/>
            </a:pPr>
            <a:br>
              <a:rPr lang="en-US" dirty="0"/>
            </a:br>
            <a:endParaRPr lang="en-US" sz="2400"/>
          </a:p>
          <a:p>
            <a:r>
              <a:rPr lang="en-US" sz="2400" b="1" u="sng"/>
              <a:t>Recommendation</a:t>
            </a:r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Expand</a:t>
            </a:r>
            <a:r>
              <a:rPr lang="en-US" sz="2400">
                <a:ea typeface="+mn-lt"/>
                <a:cs typeface="+mn-lt"/>
              </a:rPr>
              <a:t> the trial strategy used in </a:t>
            </a:r>
            <a:r>
              <a:rPr lang="en-US" sz="2400" b="1">
                <a:ea typeface="+mn-lt"/>
                <a:cs typeface="+mn-lt"/>
              </a:rPr>
              <a:t>Store 77</a:t>
            </a:r>
            <a:r>
              <a:rPr lang="en-US" sz="2400">
                <a:ea typeface="+mn-lt"/>
                <a:cs typeface="+mn-lt"/>
              </a:rPr>
              <a:t> to similar stores.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Review</a:t>
            </a:r>
            <a:r>
              <a:rPr lang="en-US" sz="2400">
                <a:ea typeface="+mn-lt"/>
                <a:cs typeface="+mn-lt"/>
              </a:rPr>
              <a:t> the implementation in </a:t>
            </a:r>
            <a:r>
              <a:rPr lang="en-US" sz="2400" b="1">
                <a:ea typeface="+mn-lt"/>
                <a:cs typeface="+mn-lt"/>
              </a:rPr>
              <a:t>Store 86</a:t>
            </a:r>
            <a:r>
              <a:rPr lang="en-US" sz="2400">
                <a:ea typeface="+mn-lt"/>
                <a:cs typeface="+mn-lt"/>
              </a:rPr>
              <a:t> to identify opportunities for improvement.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Re-evaluate</a:t>
            </a:r>
            <a:r>
              <a:rPr lang="en-US" sz="2400">
                <a:ea typeface="+mn-lt"/>
                <a:cs typeface="+mn-lt"/>
              </a:rPr>
              <a:t> the control store for </a:t>
            </a:r>
            <a:r>
              <a:rPr lang="en-US" sz="2400" b="1">
                <a:ea typeface="+mn-lt"/>
                <a:cs typeface="+mn-lt"/>
              </a:rPr>
              <a:t>Store 88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and repeat the analysis before considering a broader rollout.</a:t>
            </a:r>
            <a:endParaRPr lang="en-US" sz="2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493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Category review: Chips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116</cp:revision>
  <dcterms:created xsi:type="dcterms:W3CDTF">2013-07-15T20:26:40Z</dcterms:created>
  <dcterms:modified xsi:type="dcterms:W3CDTF">2026-07-23T12:41:32Z</dcterms:modified>
</cp:coreProperties>
</file>